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145eecb48941e8" /><Relationship Type="http://schemas.openxmlformats.org/officeDocument/2006/relationships/extended-properties" Target="/docProps/app.xml" Id="R6722a51938dd4c67" /><Relationship Type="http://schemas.openxmlformats.org/officeDocument/2006/relationships/officeDocument" Target="/ppt/presentation.xml" Id="R811453909fdb474b" /></Relationships>
</file>

<file path=ppt/presentation.xml><?xml version="1.0" encoding="utf-8"?>
<p:presentation xmlns:p="http://schemas.openxmlformats.org/presentationml/2006/main">
  <p:sldMasterIdLst>
    <p:sldMasterId xmlns:r="http://schemas.openxmlformats.org/officeDocument/2006/relationships" id="2147483648" r:id="Rd9cc3da4c751492e"/>
  </p:sldMasterIdLst>
  <p:notesMasterIdLst>
    <p:notesMasterId xmlns:r="http://schemas.openxmlformats.org/officeDocument/2006/relationships" r:id="Rf2be4080213c4b2d"/>
  </p:notesMasterIdLst>
  <p:sldIdLst>
    <p:sldId xmlns:r="http://schemas.openxmlformats.org/officeDocument/2006/relationships" id="256" r:id="R3fdc4e0f03c44ca4"/>
    <p:sldId xmlns:r="http://schemas.openxmlformats.org/officeDocument/2006/relationships" id="257" r:id="R011b2b889fe54113"/>
    <p:sldId xmlns:r="http://schemas.openxmlformats.org/officeDocument/2006/relationships" id="258" r:id="Rbce2b8d7402846ae"/>
    <p:sldId xmlns:r="http://schemas.openxmlformats.org/officeDocument/2006/relationships" id="259" r:id="R1a43b2c12b574e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6ed6bb5f714ed3" /><Relationship Type="http://schemas.openxmlformats.org/officeDocument/2006/relationships/slideMaster" Target="/ppt/slideMasters/slideMaster1.xml" Id="Rd9cc3da4c751492e" /><Relationship Type="http://schemas.openxmlformats.org/officeDocument/2006/relationships/notesMaster" Target="/ppt/notesMasters/notesMaster1.xml" Id="Rf2be4080213c4b2d" /><Relationship Type="http://schemas.openxmlformats.org/officeDocument/2006/relationships/presProps" Target="/ppt/presProps.xml" Id="R9cdcbfc052f04fcc" /><Relationship Type="http://schemas.openxmlformats.org/officeDocument/2006/relationships/tableStyles" Target="/ppt/tableStyles.xml" Id="Rc4b321730f7a46af" /><Relationship Type="http://schemas.openxmlformats.org/officeDocument/2006/relationships/slide" Target="/ppt/slides/slide1.xml" Id="R3fdc4e0f03c44ca4" /><Relationship Type="http://schemas.openxmlformats.org/officeDocument/2006/relationships/slide" Target="/ppt/slides/slide2.xml" Id="R011b2b889fe54113" /><Relationship Type="http://schemas.openxmlformats.org/officeDocument/2006/relationships/slide" Target="/ppt/slides/slide3.xml" Id="Rbce2b8d7402846ae" /><Relationship Type="http://schemas.openxmlformats.org/officeDocument/2006/relationships/slide" Target="/ppt/slides/slide4.xml" Id="R1a43b2c12b574e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ec226ec4884b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ae8b764d824cb3" /><Relationship Type="http://schemas.openxmlformats.org/officeDocument/2006/relationships/notesMaster" Target="/ppt/notesMasters/notesMaster1.xml" Id="R2c2a4e85e96843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e6bdd1e89d48d0" /><Relationship Type="http://schemas.openxmlformats.org/officeDocument/2006/relationships/notesMaster" Target="/ppt/notesMasters/notesMaster1.xml" Id="Rb0169b940dcc4b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b25266e24b49a0" /><Relationship Type="http://schemas.openxmlformats.org/officeDocument/2006/relationships/notesMaster" Target="/ppt/notesMasters/notesMaster1.xml" Id="R768f2ee876f643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c5e24e8145425b" /><Relationship Type="http://schemas.openxmlformats.org/officeDocument/2006/relationships/notesMaster" Target="/ppt/notesMasters/notesMaster1.xml" Id="Reef40947639747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Hello, I am Ephraim Zymann. My portfolio presents my software development studies, projects, and engineering background to potential employers. I started with my earlier Modern CV website and developed it further using React and Vite. The aim was to create a responsive single-page website with a clear structure that I can maintain and extend. Content source: supplied project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The page has seven main sections, from the introduction to contact details. The navigation links let visitors move directly to the section they need. The Projects section presents four examples: Inventory Management System, Asset Tracking, Modern CV, and Nordic Brew. Each card shows GitHub and live website links where available. I also included visible keyboard focus and a back-to-top link. Content source: supplied project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React gives the website a component-based structure. App.jsx imports the separate sections and combines them into one page. JavaScript’s map method turns the project array into cards, while conditional rendering displays links only when a URL exists. The footer year updates automatically. HTML and CSS alone could provide the layout, but the cards and year would require manual updates. With this structure, I can add projects without duplicating the layout and add sections as new components. Content source: supplied project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50–65 seconds including a short demo. CSS Flexbox, Grid, and media queries adapt the page to desktop, tablet, and mobile. I checked the layouts, navigation, project links, keyboard navigation in the main menu, and the production build and preview. The portfolio is published with GitHub Pages. Switch to the browser, navigate to Projects, show a card, and narrow the browser to show the mobile layout. Close: This project helped me learn how to organise a React website and make it easier to maintain and extend. Thank you. Before presenting, open https://ephraimlex.github.io/PersonalPortfolio/ in a browser tab. Repository: https://github.com/EphraimLex/PersonalPortfolio. Content source: supplied project README and confirmed deployment in the project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9bb044adb741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97ba433610e4a0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30b9158ae3d45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96eeb50c71e46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951acd5ae9400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dfbb8f02b6642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C347BF-7DF3-42CA-95D3-4BE9F10B19E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B9619F-7379-457F-960C-A4D1D7A712E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F870AA-7DCA-4CEC-B17E-628D7499548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8016BD-DB09-4CF8-9281-9EB3FFD7DC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9AA6AB-1BD0-4557-8A56-22C62AD5797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0A86DEB-2A5F-40CC-A1E3-3F7BA4C400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A7F625-65B0-49A9-804F-282B67755A3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E9A310-97EB-4F9C-95AE-FB8DE6D7298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0B1AC1-B9F7-40E6-ADB9-A4BE1719EC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BD5D29-E49E-4E58-9907-383807A13A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c7e721968040e0" /><Relationship Type="http://schemas.openxmlformats.org/officeDocument/2006/relationships/slideLayout" Target="/ppt/slideLayouts/slideLayout1.xml" Id="Ra882d1edb17543b3" /><Relationship Type="http://schemas.openxmlformats.org/officeDocument/2006/relationships/slideLayout" Target="/ppt/slideLayouts/slideLayout2.xml" Id="Rd5ef7539a1f84db8" /><Relationship Type="http://schemas.openxmlformats.org/officeDocument/2006/relationships/slideLayout" Target="/ppt/slideLayouts/slideLayout3.xml" Id="R4f7878f0da9048bd" /><Relationship Type="http://schemas.openxmlformats.org/officeDocument/2006/relationships/slideLayout" Target="/ppt/slideLayouts/slideLayout4.xml" Id="R80d404108d7e4809" /><Relationship Type="http://schemas.openxmlformats.org/officeDocument/2006/relationships/slideLayout" Target="/ppt/slideLayouts/slideLayout5.xml" Id="R11f44111b163414e" /><Relationship Type="http://schemas.openxmlformats.org/officeDocument/2006/relationships/slideLayout" Target="/ppt/slideLayouts/slideLayout6.xml" Id="R587d1d31d2aa4a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82d1edb17543b3"/>
    <p:sldLayoutId xmlns:r="http://schemas.openxmlformats.org/officeDocument/2006/relationships" id="2147483650" r:id="Rd5ef7539a1f84db8"/>
    <p:sldLayoutId xmlns:r="http://schemas.openxmlformats.org/officeDocument/2006/relationships" id="2147483651" r:id="R4f7878f0da9048bd"/>
    <p:sldLayoutId xmlns:r="http://schemas.openxmlformats.org/officeDocument/2006/relationships" id="2147483652" r:id="R80d404108d7e4809"/>
    <p:sldLayoutId xmlns:r="http://schemas.openxmlformats.org/officeDocument/2006/relationships" id="2147483653" r:id="R11f44111b163414e"/>
    <p:sldLayoutId xmlns:r="http://schemas.openxmlformats.org/officeDocument/2006/relationships" id="2147483654" r:id="R587d1d31d2aa4a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1bf6278dc34243" /><Relationship Type="http://schemas.openxmlformats.org/officeDocument/2006/relationships/notesSlide" Target="/ppt/notesSlides/notesSlide1.xml" Id="R5d42877a5f9c43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3390e6327d49a6" /><Relationship Type="http://schemas.openxmlformats.org/officeDocument/2006/relationships/notesSlide" Target="/ppt/notesSlides/notesSlide2.xml" Id="R985d81e60cd34e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7539b792940472a" /><Relationship Type="http://schemas.openxmlformats.org/officeDocument/2006/relationships/notesSlide" Target="/ppt/notesSlides/notesSlide3.xml" Id="R000ee5df040b49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fa2c8eb3d214dad" /><Relationship Type="http://schemas.openxmlformats.org/officeDocument/2006/relationships/notesSlide" Target="/ppt/notesSlides/notesSlide4.xml" Id="Rd8d812e8bf804107" /></Relationships>
</file>

<file path=ppt/slides/slide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3FF29E1-7ABB-4799-B972-496F71FEE830}"/>
              </a:ext>
            </a:extLst>
          </p:cNvPr>
          <p:cNvSpPr>
            <a:spLocks xmlns:a="http://schemas.openxmlformats.org/drawingml/2006/main" noGrp="1"/>
          </p:cNvSpPr>
          <p:nvPr/>
        </p:nvSpPr>
        <p:spPr>
          <a:xfrm xmlns:a="http://schemas.openxmlformats.org/drawingml/2006/main">
            <a:off x="762000" y="6191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B32"/>
                </a:solidFill>
                <a:latin typeface="Arial"/>
                <a:ea typeface="Arial"/>
                <a:cs typeface="Arial"/>
              </a:defRPr>
            </a:defPPr>
          </a:lstStyle>
          <a:p xmlns:a="http://schemas.openxmlformats.org/drawingml/2006/main">
            <a:pPr>
              <a:defRPr sz="3600" b="1">
                <a:solidFill>
                  <a:srgbClr val="243B32"/>
                </a:solidFill>
                <a:latin typeface="Arial"/>
                <a:ea typeface="Arial"/>
                <a:cs typeface="Arial"/>
              </a:defRPr>
            </a:pPr>
            <a:r>
              <a:rPr sz="3600" b="1">
                <a:solidFill>
                  <a:srgbClr val="243B32"/>
                </a:solidFill>
                <a:latin typeface="Arial"/>
                <a:ea typeface="Arial"/>
                <a:cs typeface="Arial"/>
              </a:rPr>
              <a:t>Personal Portfolio</a:t>
            </a:r>
          </a:p>
        </p:txBody>
      </p:sp>
      <p:sp>
        <p:nvSpPr>
          <p:cNvPr id="2" name="">
            <a:extLst xmlns:a="http://schemas.openxmlformats.org/drawingml/2006/main">
              <a:ext uri="{FF2B5EF4-FFF2-40B4-BE49-F238E27FC236}">
                <a16:creationId xmlns:a16="http://schemas.microsoft.com/office/drawing/2014/main" id="{13282CE2-2285-41AE-AFA3-C59130AB6BFA}"/>
              </a:ext>
            </a:extLst>
          </p:cNvPr>
          <p:cNvSpPr>
            <a:spLocks xmlns:a="http://schemas.openxmlformats.org/drawingml/2006/main" noGrp="1"/>
          </p:cNvSpPr>
          <p:nvPr/>
        </p:nvSpPr>
        <p:spPr>
          <a:xfrm xmlns:a="http://schemas.openxmlformats.org/drawingml/2006/main">
            <a:off x="10668000" y="6191250"/>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87064"/>
                </a:solidFill>
                <a:latin typeface="Arial"/>
                <a:ea typeface="Arial"/>
                <a:cs typeface="Arial"/>
              </a:defRPr>
            </a:defPPr>
          </a:lstStyle>
          <a:p xmlns:a="http://schemas.openxmlformats.org/drawingml/2006/main">
            <a:pPr>
              <a:defRPr sz="1350" b="0">
                <a:solidFill>
                  <a:srgbClr val="587064"/>
                </a:solidFill>
                <a:latin typeface="Arial"/>
                <a:ea typeface="Arial"/>
                <a:cs typeface="Arial"/>
              </a:defRPr>
            </a:pPr>
            <a:r>
              <a:rPr sz="1350" b="0">
                <a:solidFill>
                  <a:srgbClr val="587064"/>
                </a:solidFill>
                <a:latin typeface="Arial"/>
                <a:ea typeface="Arial"/>
                <a:cs typeface="Arial"/>
              </a:rPr>
              <a:t>1 / 4</a:t>
            </a:r>
          </a:p>
        </p:txBody>
      </p:sp>
      <p:sp>
        <p:nvSpPr>
          <p:cNvPr id="3" name="">
            <a:extLst xmlns:a="http://schemas.openxmlformats.org/drawingml/2006/main">
              <a:ext uri="{FF2B5EF4-FFF2-40B4-BE49-F238E27FC236}">
                <a16:creationId xmlns:a16="http://schemas.microsoft.com/office/drawing/2014/main" id="{BA1F8A59-83E5-4E3C-8961-C2CDE4038F57}"/>
              </a:ext>
            </a:extLst>
          </p:cNvPr>
          <p:cNvSpPr>
            <a:spLocks xmlns:a="http://schemas.openxmlformats.org/drawingml/2006/main" noGrp="1"/>
          </p:cNvSpPr>
          <p:nvPr/>
        </p:nvSpPr>
        <p:spPr>
          <a:xfrm xmlns:a="http://schemas.openxmlformats.org/drawingml/2006/main">
            <a:off x="762000" y="14573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5A46"/>
                </a:solidFill>
                <a:latin typeface="Arial"/>
                <a:ea typeface="Arial"/>
                <a:cs typeface="Arial"/>
              </a:defRPr>
            </a:defPPr>
          </a:lstStyle>
          <a:p xmlns:a="http://schemas.openxmlformats.org/drawingml/2006/main">
            <a:pPr>
              <a:defRPr sz="2250" b="0">
                <a:solidFill>
                  <a:srgbClr val="245A46"/>
                </a:solidFill>
                <a:latin typeface="Arial"/>
                <a:ea typeface="Arial"/>
                <a:cs typeface="Arial"/>
              </a:defRPr>
            </a:pPr>
            <a:r>
              <a:rPr sz="2250" b="0">
                <a:solidFill>
                  <a:srgbClr val="245A46"/>
                </a:solidFill>
                <a:latin typeface="Arial"/>
                <a:ea typeface="Arial"/>
                <a:cs typeface="Arial"/>
              </a:rPr>
              <a:t>Ephraim Zymann</a:t>
            </a:r>
          </a:p>
        </p:txBody>
      </p:sp>
      <p:sp>
        <p:nvSpPr>
          <p:cNvPr id="4" name="">
            <a:extLst xmlns:a="http://schemas.openxmlformats.org/drawingml/2006/main">
              <a:ext uri="{FF2B5EF4-FFF2-40B4-BE49-F238E27FC236}">
                <a16:creationId xmlns:a16="http://schemas.microsoft.com/office/drawing/2014/main" id="{9AEA7F96-43AD-43C4-8B00-515F909CA8D1}"/>
              </a:ext>
            </a:extLst>
          </p:cNvPr>
          <p:cNvSpPr>
            <a:spLocks xmlns:a="http://schemas.openxmlformats.org/drawingml/2006/main" noGrp="1"/>
          </p:cNvSpPr>
          <p:nvPr/>
        </p:nvSpPr>
        <p:spPr>
          <a:xfrm xmlns:a="http://schemas.openxmlformats.org/drawingml/2006/main">
            <a:off x="762000" y="23622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43B32"/>
                </a:solidFill>
                <a:latin typeface="Arial"/>
                <a:ea typeface="Arial"/>
                <a:cs typeface="Arial"/>
              </a:defRPr>
            </a:defPPr>
          </a:lstStyle>
          <a:p xmlns:a="http://schemas.openxmlformats.org/drawingml/2006/main">
            <a:pPr>
              <a:defRPr sz="2400" b="1">
                <a:solidFill>
                  <a:srgbClr val="243B32"/>
                </a:solidFill>
                <a:latin typeface="Arial"/>
                <a:ea typeface="Arial"/>
                <a:cs typeface="Arial"/>
              </a:defRPr>
            </a:pPr>
            <a:r>
              <a:rPr sz="2400" b="1">
                <a:solidFill>
                  <a:srgbClr val="243B32"/>
                </a:solidFill>
                <a:latin typeface="Arial"/>
                <a:ea typeface="Arial"/>
                <a:cs typeface="Arial"/>
              </a:rPr>
              <a:t>Purpose and audience</a:t>
            </a:r>
          </a:p>
        </p:txBody>
      </p:sp>
      <p:sp>
        <p:nvSpPr>
          <p:cNvPr id="5" name="">
            <a:extLst xmlns:a="http://schemas.openxmlformats.org/drawingml/2006/main">
              <a:ext uri="{FF2B5EF4-FFF2-40B4-BE49-F238E27FC236}">
                <a16:creationId xmlns:a16="http://schemas.microsoft.com/office/drawing/2014/main" id="{68135664-8374-436B-8A4E-DF87996AA044}"/>
              </a:ext>
            </a:extLst>
          </p:cNvPr>
          <p:cNvSpPr>
            <a:spLocks xmlns:a="http://schemas.openxmlformats.org/drawingml/2006/main" noGrp="1"/>
          </p:cNvSpPr>
          <p:nvPr/>
        </p:nvSpPr>
        <p:spPr>
          <a:xfrm xmlns:a="http://schemas.openxmlformats.org/drawingml/2006/main">
            <a:off x="762000" y="2971800"/>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B32"/>
                </a:solidFill>
                <a:latin typeface="Arial"/>
                <a:ea typeface="Arial"/>
                <a:cs typeface="Arial"/>
              </a:defRPr>
            </a:defPPr>
          </a:lstStyle>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Present my software development studies,</a:t>
            </a:r>
          </a:p>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projects, and engineering experience</a:t>
            </a:r>
          </a:p>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to employers and recruiters.</a:t>
            </a:r>
          </a:p>
        </p:txBody>
      </p:sp>
      <p:sp>
        <p:nvSpPr>
          <p:cNvPr id="6" name="">
            <a:extLst xmlns:a="http://schemas.openxmlformats.org/drawingml/2006/main">
              <a:ext uri="{FF2B5EF4-FFF2-40B4-BE49-F238E27FC236}">
                <a16:creationId xmlns:a16="http://schemas.microsoft.com/office/drawing/2014/main" id="{6C2DBB6C-BEAC-47AC-89AD-EEDF6666F47E}"/>
              </a:ext>
            </a:extLst>
          </p:cNvPr>
          <p:cNvSpPr>
            <a:spLocks xmlns:a="http://schemas.openxmlformats.org/drawingml/2006/main" noGrp="1"/>
          </p:cNvSpPr>
          <p:nvPr/>
        </p:nvSpPr>
        <p:spPr>
          <a:xfrm xmlns:a="http://schemas.openxmlformats.org/drawingml/2006/main">
            <a:off x="6572250" y="23622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43B32"/>
                </a:solidFill>
                <a:latin typeface="Arial"/>
                <a:ea typeface="Arial"/>
                <a:cs typeface="Arial"/>
              </a:defRPr>
            </a:defPPr>
          </a:lstStyle>
          <a:p xmlns:a="http://schemas.openxmlformats.org/drawingml/2006/main">
            <a:pPr>
              <a:defRPr sz="2400" b="1">
                <a:solidFill>
                  <a:srgbClr val="243B32"/>
                </a:solidFill>
                <a:latin typeface="Arial"/>
                <a:ea typeface="Arial"/>
                <a:cs typeface="Arial"/>
              </a:defRPr>
            </a:pPr>
            <a:r>
              <a:rPr sz="2400" b="1">
                <a:solidFill>
                  <a:srgbClr val="243B32"/>
                </a:solidFill>
                <a:latin typeface="Arial"/>
                <a:ea typeface="Arial"/>
                <a:cs typeface="Arial"/>
              </a:rPr>
              <a:t>Project development</a:t>
            </a:r>
          </a:p>
        </p:txBody>
      </p:sp>
      <p:sp>
        <p:nvSpPr>
          <p:cNvPr id="7" name="">
            <a:extLst xmlns:a="http://schemas.openxmlformats.org/drawingml/2006/main">
              <a:ext uri="{FF2B5EF4-FFF2-40B4-BE49-F238E27FC236}">
                <a16:creationId xmlns:a16="http://schemas.microsoft.com/office/drawing/2014/main" id="{D889C5A3-D523-440B-A7A3-0E0210499146}"/>
              </a:ext>
            </a:extLst>
          </p:cNvPr>
          <p:cNvSpPr>
            <a:spLocks xmlns:a="http://schemas.openxmlformats.org/drawingml/2006/main" noGrp="1"/>
          </p:cNvSpPr>
          <p:nvPr/>
        </p:nvSpPr>
        <p:spPr>
          <a:xfrm xmlns:a="http://schemas.openxmlformats.org/drawingml/2006/main">
            <a:off x="6572250" y="297180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B32"/>
                </a:solidFill>
                <a:latin typeface="Arial"/>
                <a:ea typeface="Arial"/>
                <a:cs typeface="Arial"/>
              </a:defRPr>
            </a:defPPr>
          </a:lstStyle>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Build on my Modern CV website.</a:t>
            </a:r>
          </a:p>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Introduce React components and</a:t>
            </a:r>
          </a:p>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project cards generated from data.</a:t>
            </a:r>
          </a:p>
        </p:txBody>
      </p:sp>
      <p:sp>
        <p:nvSpPr>
          <p:cNvPr id="8" name="">
            <a:extLst xmlns:a="http://schemas.openxmlformats.org/drawingml/2006/main">
              <a:ext uri="{FF2B5EF4-FFF2-40B4-BE49-F238E27FC236}">
                <a16:creationId xmlns:a16="http://schemas.microsoft.com/office/drawing/2014/main" id="{9E285192-76F7-42E8-961E-AC4E089FE441}"/>
              </a:ext>
            </a:extLst>
          </p:cNvPr>
          <p:cNvSpPr>
            <a:spLocks xmlns:a="http://schemas.openxmlformats.org/drawingml/2006/main" noGrp="1"/>
          </p:cNvSpPr>
          <p:nvPr/>
        </p:nvSpPr>
        <p:spPr>
          <a:xfrm xmlns:a="http://schemas.openxmlformats.org/drawingml/2006/main">
            <a:off x="762000" y="50387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45A46"/>
                </a:solidFill>
                <a:latin typeface="Arial"/>
                <a:ea typeface="Arial"/>
                <a:cs typeface="Arial"/>
              </a:defRPr>
            </a:defPPr>
          </a:lstStyle>
          <a:p xmlns:a="http://schemas.openxmlformats.org/drawingml/2006/main">
            <a:pPr>
              <a:defRPr sz="2550" b="1">
                <a:solidFill>
                  <a:srgbClr val="245A46"/>
                </a:solidFill>
                <a:latin typeface="Arial"/>
                <a:ea typeface="Arial"/>
                <a:cs typeface="Arial"/>
              </a:defRPr>
            </a:pPr>
            <a:r>
              <a:rPr sz="2550" b="1">
                <a:solidFill>
                  <a:srgbClr val="245A46"/>
                </a:solidFill>
                <a:latin typeface="Arial"/>
                <a:ea typeface="Arial"/>
                <a:cs typeface="Arial"/>
              </a:rPr>
              <a:t>A responsive single-page website</a:t>
            </a:r>
          </a:p>
        </p:txBody>
      </p:sp>
      <p:sp>
        <p:nvSpPr>
          <p:cNvPr id="9" name="">
            <a:extLst xmlns:a="http://schemas.openxmlformats.org/drawingml/2006/main">
              <a:ext uri="{FF2B5EF4-FFF2-40B4-BE49-F238E27FC236}">
                <a16:creationId xmlns:a16="http://schemas.microsoft.com/office/drawing/2014/main" id="{A2C6CA37-20BD-4EDA-943B-B9E9F77162A2}"/>
              </a:ext>
            </a:extLst>
          </p:cNvPr>
          <p:cNvSpPr>
            <a:spLocks xmlns:a="http://schemas.openxmlformats.org/drawingml/2006/main" noGrp="1"/>
          </p:cNvSpPr>
          <p:nvPr/>
        </p:nvSpPr>
        <p:spPr>
          <a:xfrm xmlns:a="http://schemas.openxmlformats.org/drawingml/2006/main">
            <a:off x="762000" y="56197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32"/>
                </a:solidFill>
                <a:latin typeface="Arial"/>
                <a:ea typeface="Arial"/>
                <a:cs typeface="Arial"/>
              </a:defRPr>
            </a:defPPr>
          </a:lstStyle>
          <a:p xmlns:a="http://schemas.openxmlformats.org/drawingml/2006/main">
            <a:pPr>
              <a:defRPr sz="1950" b="0">
                <a:solidFill>
                  <a:srgbClr val="243B32"/>
                </a:solidFill>
                <a:latin typeface="Arial"/>
                <a:ea typeface="Arial"/>
                <a:cs typeface="Arial"/>
              </a:defRPr>
            </a:pPr>
            <a:r>
              <a:rPr sz="1950" b="0">
                <a:solidFill>
                  <a:srgbClr val="243B32"/>
                </a:solidFill>
                <a:latin typeface="Arial"/>
                <a:ea typeface="Arial"/>
                <a:cs typeface="Arial"/>
              </a:rPr>
              <a:t>React and JavaScript     JSX and CSS     Vite     GitHub Pages</a:t>
            </a:r>
          </a:p>
        </p:txBody>
      </p:sp>
    </p:spTree>
    <p:extLst>
      <p:ext uri="{BB962C8B-B14F-4D97-AF65-F5344CB8AC3E}">
        <p14:creationId xmlns:p14="http://schemas.microsoft.com/office/powerpoint/2010/main" val="519690361"/>
      </p:ext>
    </p:extLst>
  </p:cSld>
</p:sld>
</file>

<file path=ppt/slides/slide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DABADE-2B60-43D4-B4D6-C5738B2A0F4B}"/>
              </a:ext>
            </a:extLst>
          </p:cNvPr>
          <p:cNvSpPr>
            <a:spLocks xmlns:a="http://schemas.openxmlformats.org/drawingml/2006/main" noGrp="1"/>
          </p:cNvSpPr>
          <p:nvPr/>
        </p:nvSpPr>
        <p:spPr>
          <a:xfrm xmlns:a="http://schemas.openxmlformats.org/drawingml/2006/main">
            <a:off x="762000" y="6191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B32"/>
                </a:solidFill>
                <a:latin typeface="Arial"/>
                <a:ea typeface="Arial"/>
                <a:cs typeface="Arial"/>
              </a:defRPr>
            </a:defPPr>
          </a:lstStyle>
          <a:p xmlns:a="http://schemas.openxmlformats.org/drawingml/2006/main">
            <a:pPr>
              <a:defRPr sz="3600" b="1">
                <a:solidFill>
                  <a:srgbClr val="243B32"/>
                </a:solidFill>
                <a:latin typeface="Arial"/>
                <a:ea typeface="Arial"/>
                <a:cs typeface="Arial"/>
              </a:defRPr>
            </a:pPr>
            <a:r>
              <a:rPr sz="3600" b="1">
                <a:solidFill>
                  <a:srgbClr val="243B32"/>
                </a:solidFill>
                <a:latin typeface="Arial"/>
                <a:ea typeface="Arial"/>
                <a:cs typeface="Arial"/>
              </a:rPr>
              <a:t>Page structure and featured projects</a:t>
            </a:r>
          </a:p>
        </p:txBody>
      </p:sp>
      <p:sp>
        <p:nvSpPr>
          <p:cNvPr id="2" name="">
            <a:extLst xmlns:a="http://schemas.openxmlformats.org/drawingml/2006/main">
              <a:ext uri="{FF2B5EF4-FFF2-40B4-BE49-F238E27FC236}">
                <a16:creationId xmlns:a16="http://schemas.microsoft.com/office/drawing/2014/main" id="{671D9A4C-FBF6-4F34-BEFD-6E15250BAE6B}"/>
              </a:ext>
            </a:extLst>
          </p:cNvPr>
          <p:cNvSpPr>
            <a:spLocks xmlns:a="http://schemas.openxmlformats.org/drawingml/2006/main" noGrp="1"/>
          </p:cNvSpPr>
          <p:nvPr/>
        </p:nvSpPr>
        <p:spPr>
          <a:xfrm xmlns:a="http://schemas.openxmlformats.org/drawingml/2006/main">
            <a:off x="10668000" y="6191250"/>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87064"/>
                </a:solidFill>
                <a:latin typeface="Arial"/>
                <a:ea typeface="Arial"/>
                <a:cs typeface="Arial"/>
              </a:defRPr>
            </a:defPPr>
          </a:lstStyle>
          <a:p xmlns:a="http://schemas.openxmlformats.org/drawingml/2006/main">
            <a:pPr>
              <a:defRPr sz="1350" b="0">
                <a:solidFill>
                  <a:srgbClr val="587064"/>
                </a:solidFill>
                <a:latin typeface="Arial"/>
                <a:ea typeface="Arial"/>
                <a:cs typeface="Arial"/>
              </a:defRPr>
            </a:pPr>
            <a:r>
              <a:rPr sz="1350" b="0">
                <a:solidFill>
                  <a:srgbClr val="587064"/>
                </a:solidFill>
                <a:latin typeface="Arial"/>
                <a:ea typeface="Arial"/>
                <a:cs typeface="Arial"/>
              </a:rPr>
              <a:t>2 / 4</a:t>
            </a:r>
          </a:p>
        </p:txBody>
      </p:sp>
      <p:sp>
        <p:nvSpPr>
          <p:cNvPr id="3" name="">
            <a:extLst xmlns:a="http://schemas.openxmlformats.org/drawingml/2006/main">
              <a:ext uri="{FF2B5EF4-FFF2-40B4-BE49-F238E27FC236}">
                <a16:creationId xmlns:a16="http://schemas.microsoft.com/office/drawing/2014/main" id="{C0E53F54-5A0F-41C9-9A32-DCF7FF855E04}"/>
              </a:ext>
            </a:extLst>
          </p:cNvPr>
          <p:cNvSpPr>
            <a:spLocks xmlns:a="http://schemas.openxmlformats.org/drawingml/2006/main" noGrp="1"/>
          </p:cNvSpPr>
          <p:nvPr/>
        </p:nvSpPr>
        <p:spPr>
          <a:xfrm xmlns:a="http://schemas.openxmlformats.org/drawingml/2006/main">
            <a:off x="762000" y="1657350"/>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45A46"/>
                </a:solidFill>
                <a:latin typeface="Arial"/>
                <a:ea typeface="Arial"/>
                <a:cs typeface="Arial"/>
              </a:defRPr>
            </a:defPPr>
          </a:lstStyle>
          <a:p xmlns:a="http://schemas.openxmlformats.org/drawingml/2006/main">
            <a:pPr>
              <a:defRPr sz="2400" b="1">
                <a:solidFill>
                  <a:srgbClr val="245A46"/>
                </a:solidFill>
                <a:latin typeface="Arial"/>
                <a:ea typeface="Arial"/>
                <a:cs typeface="Arial"/>
              </a:defRPr>
            </a:pPr>
            <a:r>
              <a:rPr sz="2400" b="1">
                <a:solidFill>
                  <a:srgbClr val="245A46"/>
                </a:solidFill>
                <a:latin typeface="Arial"/>
                <a:ea typeface="Arial"/>
                <a:cs typeface="Arial"/>
              </a:rPr>
              <a:t>Seven main sections</a:t>
            </a:r>
          </a:p>
        </p:txBody>
      </p:sp>
      <p:sp>
        <p:nvSpPr>
          <p:cNvPr id="4" name="">
            <a:extLst xmlns:a="http://schemas.openxmlformats.org/drawingml/2006/main">
              <a:ext uri="{FF2B5EF4-FFF2-40B4-BE49-F238E27FC236}">
                <a16:creationId xmlns:a16="http://schemas.microsoft.com/office/drawing/2014/main" id="{36C19453-EF08-4E1B-A89C-F9FF62061A22}"/>
              </a:ext>
            </a:extLst>
          </p:cNvPr>
          <p:cNvSpPr>
            <a:spLocks xmlns:a="http://schemas.openxmlformats.org/drawingml/2006/main" noGrp="1"/>
          </p:cNvSpPr>
          <p:nvPr/>
        </p:nvSpPr>
        <p:spPr>
          <a:xfrm xmlns:a="http://schemas.openxmlformats.org/drawingml/2006/main">
            <a:off x="762000" y="2314575"/>
            <a:ext cx="4857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32"/>
                </a:solidFill>
                <a:latin typeface="Arial"/>
                <a:ea typeface="Arial"/>
                <a:cs typeface="Arial"/>
              </a:defRPr>
            </a:defPPr>
          </a:lstStyle>
          <a:p xmlns:a="http://schemas.openxmlformats.org/drawingml/2006/main">
            <a:pPr>
              <a:defRPr sz="2175" b="0">
                <a:solidFill>
                  <a:srgbClr val="243B32"/>
                </a:solidFill>
                <a:latin typeface="Arial"/>
                <a:ea typeface="Arial"/>
                <a:cs typeface="Arial"/>
              </a:defRPr>
            </a:pPr>
            <a:r>
              <a:rPr sz="2175" b="0">
                <a:solidFill>
                  <a:srgbClr val="243B32"/>
                </a:solidFill>
                <a:latin typeface="Arial"/>
                <a:ea typeface="Arial"/>
                <a:cs typeface="Arial"/>
              </a:rPr>
              <a:t>Introduction and About</a:t>
            </a:r>
          </a:p>
          <a:p xmlns:a="http://schemas.openxmlformats.org/drawingml/2006/main">
            <a:pPr>
              <a:defRPr sz="2175" b="0">
                <a:solidFill>
                  <a:srgbClr val="243B32"/>
                </a:solidFill>
                <a:latin typeface="Arial"/>
                <a:ea typeface="Arial"/>
                <a:cs typeface="Arial"/>
              </a:defRPr>
            </a:pPr>
            <a:r>
              <a:rPr sz="2175" b="0">
                <a:solidFill>
                  <a:srgbClr val="243B32"/>
                </a:solidFill>
                <a:latin typeface="Arial"/>
                <a:ea typeface="Arial"/>
                <a:cs typeface="Arial"/>
              </a:rPr>
              <a:t>Skills and Projects</a:t>
            </a:r>
          </a:p>
          <a:p xmlns:a="http://schemas.openxmlformats.org/drawingml/2006/main">
            <a:pPr>
              <a:defRPr sz="2175" b="0">
                <a:solidFill>
                  <a:srgbClr val="243B32"/>
                </a:solidFill>
                <a:latin typeface="Arial"/>
                <a:ea typeface="Arial"/>
                <a:cs typeface="Arial"/>
              </a:defRPr>
            </a:pPr>
            <a:r>
              <a:rPr sz="2175" b="0">
                <a:solidFill>
                  <a:srgbClr val="243B32"/>
                </a:solidFill>
                <a:latin typeface="Arial"/>
                <a:ea typeface="Arial"/>
                <a:cs typeface="Arial"/>
              </a:rPr>
              <a:t>Experience and Education</a:t>
            </a:r>
          </a:p>
          <a:p xmlns:a="http://schemas.openxmlformats.org/drawingml/2006/main">
            <a:pPr>
              <a:defRPr sz="2175" b="0">
                <a:solidFill>
                  <a:srgbClr val="243B32"/>
                </a:solidFill>
                <a:latin typeface="Arial"/>
                <a:ea typeface="Arial"/>
                <a:cs typeface="Arial"/>
              </a:defRPr>
            </a:pPr>
            <a:r>
              <a:rPr sz="2175" b="0">
                <a:solidFill>
                  <a:srgbClr val="243B32"/>
                </a:solidFill>
                <a:latin typeface="Arial"/>
                <a:ea typeface="Arial"/>
                <a:cs typeface="Arial"/>
              </a:rPr>
              <a:t>Contact</a:t>
            </a:r>
          </a:p>
        </p:txBody>
      </p:sp>
      <p:sp>
        <p:nvSpPr>
          <p:cNvPr id="5" name="">
            <a:extLst xmlns:a="http://schemas.openxmlformats.org/drawingml/2006/main">
              <a:ext uri="{FF2B5EF4-FFF2-40B4-BE49-F238E27FC236}">
                <a16:creationId xmlns:a16="http://schemas.microsoft.com/office/drawing/2014/main" id="{1D44BB87-3E2B-4E8E-B270-DDBA0F6A102C}"/>
              </a:ext>
            </a:extLst>
          </p:cNvPr>
          <p:cNvSpPr>
            <a:spLocks xmlns:a="http://schemas.openxmlformats.org/drawingml/2006/main" noGrp="1"/>
          </p:cNvSpPr>
          <p:nvPr/>
        </p:nvSpPr>
        <p:spPr>
          <a:xfrm xmlns:a="http://schemas.openxmlformats.org/drawingml/2006/main">
            <a:off x="6572250" y="16573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45A46"/>
                </a:solidFill>
                <a:latin typeface="Arial"/>
                <a:ea typeface="Arial"/>
                <a:cs typeface="Arial"/>
              </a:defRPr>
            </a:defPPr>
          </a:lstStyle>
          <a:p xmlns:a="http://schemas.openxmlformats.org/drawingml/2006/main">
            <a:pPr>
              <a:defRPr sz="2400" b="1">
                <a:solidFill>
                  <a:srgbClr val="245A46"/>
                </a:solidFill>
                <a:latin typeface="Arial"/>
                <a:ea typeface="Arial"/>
                <a:cs typeface="Arial"/>
              </a:defRPr>
            </a:pPr>
            <a:r>
              <a:rPr sz="2400" b="1">
                <a:solidFill>
                  <a:srgbClr val="245A46"/>
                </a:solidFill>
                <a:latin typeface="Arial"/>
                <a:ea typeface="Arial"/>
                <a:cs typeface="Arial"/>
              </a:rPr>
              <a:t>Featured projects</a:t>
            </a:r>
          </a:p>
        </p:txBody>
      </p:sp>
      <p:sp>
        <p:nvSpPr>
          <p:cNvPr id="6" name="">
            <a:extLst xmlns:a="http://schemas.openxmlformats.org/drawingml/2006/main">
              <a:ext uri="{FF2B5EF4-FFF2-40B4-BE49-F238E27FC236}">
                <a16:creationId xmlns:a16="http://schemas.microsoft.com/office/drawing/2014/main" id="{84ED9E1B-317B-4BE2-9720-272F075C15B3}"/>
              </a:ext>
            </a:extLst>
          </p:cNvPr>
          <p:cNvSpPr>
            <a:spLocks xmlns:a="http://schemas.openxmlformats.org/drawingml/2006/main" noGrp="1"/>
          </p:cNvSpPr>
          <p:nvPr/>
        </p:nvSpPr>
        <p:spPr>
          <a:xfrm xmlns:a="http://schemas.openxmlformats.org/drawingml/2006/main">
            <a:off x="6572250" y="2314575"/>
            <a:ext cx="4857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32"/>
                </a:solidFill>
                <a:latin typeface="Arial"/>
                <a:ea typeface="Arial"/>
                <a:cs typeface="Arial"/>
              </a:defRPr>
            </a:defPPr>
          </a:lstStyle>
          <a:p xmlns:a="http://schemas.openxmlformats.org/drawingml/2006/main">
            <a:pPr>
              <a:defRPr sz="2175" b="0">
                <a:solidFill>
                  <a:srgbClr val="243B32"/>
                </a:solidFill>
                <a:latin typeface="Arial"/>
                <a:ea typeface="Arial"/>
                <a:cs typeface="Arial"/>
              </a:defRPr>
            </a:pPr>
            <a:r>
              <a:rPr sz="2175" b="0">
                <a:solidFill>
                  <a:srgbClr val="243B32"/>
                </a:solidFill>
                <a:latin typeface="Arial"/>
                <a:ea typeface="Arial"/>
                <a:cs typeface="Arial"/>
              </a:rPr>
              <a:t>Inventory Management System</a:t>
            </a:r>
          </a:p>
          <a:p xmlns:a="http://schemas.openxmlformats.org/drawingml/2006/main">
            <a:pPr>
              <a:defRPr sz="2175" b="0">
                <a:solidFill>
                  <a:srgbClr val="243B32"/>
                </a:solidFill>
                <a:latin typeface="Arial"/>
                <a:ea typeface="Arial"/>
                <a:cs typeface="Arial"/>
              </a:defRPr>
            </a:pPr>
            <a:r>
              <a:rPr sz="2175" b="0">
                <a:solidFill>
                  <a:srgbClr val="243B32"/>
                </a:solidFill>
                <a:latin typeface="Arial"/>
                <a:ea typeface="Arial"/>
                <a:cs typeface="Arial"/>
              </a:rPr>
              <a:t>Asset Tracking</a:t>
            </a:r>
          </a:p>
          <a:p xmlns:a="http://schemas.openxmlformats.org/drawingml/2006/main">
            <a:pPr>
              <a:defRPr sz="2175" b="0">
                <a:solidFill>
                  <a:srgbClr val="243B32"/>
                </a:solidFill>
                <a:latin typeface="Arial"/>
                <a:ea typeface="Arial"/>
                <a:cs typeface="Arial"/>
              </a:defRPr>
            </a:pPr>
            <a:r>
              <a:rPr sz="2175" b="0">
                <a:solidFill>
                  <a:srgbClr val="243B32"/>
                </a:solidFill>
                <a:latin typeface="Arial"/>
                <a:ea typeface="Arial"/>
                <a:cs typeface="Arial"/>
              </a:rPr>
              <a:t>Modern CV</a:t>
            </a:r>
          </a:p>
          <a:p xmlns:a="http://schemas.openxmlformats.org/drawingml/2006/main">
            <a:pPr>
              <a:defRPr sz="2175" b="0">
                <a:solidFill>
                  <a:srgbClr val="243B32"/>
                </a:solidFill>
                <a:latin typeface="Arial"/>
                <a:ea typeface="Arial"/>
                <a:cs typeface="Arial"/>
              </a:defRPr>
            </a:pPr>
            <a:r>
              <a:rPr sz="2175" b="0">
                <a:solidFill>
                  <a:srgbClr val="243B32"/>
                </a:solidFill>
                <a:latin typeface="Arial"/>
                <a:ea typeface="Arial"/>
                <a:cs typeface="Arial"/>
              </a:rPr>
              <a:t>Nordic Brew</a:t>
            </a:r>
          </a:p>
        </p:txBody>
      </p:sp>
      <p:sp>
        <p:nvSpPr>
          <p:cNvPr id="7" name="">
            <a:extLst xmlns:a="http://schemas.openxmlformats.org/drawingml/2006/main">
              <a:ext uri="{FF2B5EF4-FFF2-40B4-BE49-F238E27FC236}">
                <a16:creationId xmlns:a16="http://schemas.microsoft.com/office/drawing/2014/main" id="{45FE43B1-AE85-43AD-B7FA-F77C0BF47BAD}"/>
              </a:ext>
            </a:extLst>
          </p:cNvPr>
          <p:cNvSpPr>
            <a:spLocks xmlns:a="http://schemas.openxmlformats.org/drawingml/2006/main" noGrp="1"/>
          </p:cNvSpPr>
          <p:nvPr/>
        </p:nvSpPr>
        <p:spPr>
          <a:xfrm xmlns:a="http://schemas.openxmlformats.org/drawingml/2006/main">
            <a:off x="762000" y="46767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43B32"/>
                </a:solidFill>
                <a:latin typeface="Arial"/>
                <a:ea typeface="Arial"/>
                <a:cs typeface="Arial"/>
              </a:defRPr>
            </a:defPPr>
          </a:lstStyle>
          <a:p xmlns:a="http://schemas.openxmlformats.org/drawingml/2006/main">
            <a:pPr>
              <a:defRPr sz="2400" b="1">
                <a:solidFill>
                  <a:srgbClr val="243B32"/>
                </a:solidFill>
                <a:latin typeface="Arial"/>
                <a:ea typeface="Arial"/>
                <a:cs typeface="Arial"/>
              </a:defRPr>
            </a:pPr>
            <a:r>
              <a:rPr sz="2400" b="1">
                <a:solidFill>
                  <a:srgbClr val="243B32"/>
                </a:solidFill>
                <a:latin typeface="Arial"/>
                <a:ea typeface="Arial"/>
                <a:cs typeface="Arial"/>
              </a:rPr>
              <a:t>Navigation and access</a:t>
            </a:r>
          </a:p>
        </p:txBody>
      </p:sp>
      <p:sp>
        <p:nvSpPr>
          <p:cNvPr id="8" name="">
            <a:extLst xmlns:a="http://schemas.openxmlformats.org/drawingml/2006/main">
              <a:ext uri="{FF2B5EF4-FFF2-40B4-BE49-F238E27FC236}">
                <a16:creationId xmlns:a16="http://schemas.microsoft.com/office/drawing/2014/main" id="{7DFD559C-56CB-4D6F-B68C-7E12607AF2DC}"/>
              </a:ext>
            </a:extLst>
          </p:cNvPr>
          <p:cNvSpPr>
            <a:spLocks xmlns:a="http://schemas.openxmlformats.org/drawingml/2006/main" noGrp="1"/>
          </p:cNvSpPr>
          <p:nvPr/>
        </p:nvSpPr>
        <p:spPr>
          <a:xfrm xmlns:a="http://schemas.openxmlformats.org/drawingml/2006/main">
            <a:off x="762000" y="5286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B32"/>
                </a:solidFill>
                <a:latin typeface="Arial"/>
                <a:ea typeface="Arial"/>
                <a:cs typeface="Arial"/>
              </a:defRPr>
            </a:defPPr>
          </a:lstStyle>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Section links, project links, and a back-to-top link.</a:t>
            </a:r>
          </a:p>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Visible keyboard focus helps users navigate without a mouse.</a:t>
            </a:r>
          </a:p>
        </p:txBody>
      </p:sp>
    </p:spTree>
    <p:extLst>
      <p:ext uri="{BB962C8B-B14F-4D97-AF65-F5344CB8AC3E}">
        <p14:creationId xmlns:p14="http://schemas.microsoft.com/office/powerpoint/2010/main" val="359591796"/>
      </p:ext>
    </p:extLst>
  </p:cSld>
</p:sld>
</file>

<file path=ppt/slides/slide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9317411-42A9-47D8-AF93-4B356162427B}"/>
              </a:ext>
            </a:extLst>
          </p:cNvPr>
          <p:cNvSpPr>
            <a:spLocks xmlns:a="http://schemas.openxmlformats.org/drawingml/2006/main" noGrp="1"/>
          </p:cNvSpPr>
          <p:nvPr/>
        </p:nvSpPr>
        <p:spPr>
          <a:xfrm xmlns:a="http://schemas.openxmlformats.org/drawingml/2006/main">
            <a:off x="762000" y="6191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B32"/>
                </a:solidFill>
                <a:latin typeface="Arial"/>
                <a:ea typeface="Arial"/>
                <a:cs typeface="Arial"/>
              </a:defRPr>
            </a:defPPr>
          </a:lstStyle>
          <a:p xmlns:a="http://schemas.openxmlformats.org/drawingml/2006/main">
            <a:pPr>
              <a:defRPr sz="3600" b="1">
                <a:solidFill>
                  <a:srgbClr val="243B32"/>
                </a:solidFill>
                <a:latin typeface="Arial"/>
                <a:ea typeface="Arial"/>
                <a:cs typeface="Arial"/>
              </a:defRPr>
            </a:pPr>
            <a:r>
              <a:rPr sz="3600" b="1">
                <a:solidFill>
                  <a:srgbClr val="243B32"/>
                </a:solidFill>
                <a:latin typeface="Arial"/>
                <a:ea typeface="Arial"/>
                <a:cs typeface="Arial"/>
              </a:rPr>
              <a:t>How React and JavaScript are used</a:t>
            </a:r>
          </a:p>
        </p:txBody>
      </p:sp>
      <p:sp>
        <p:nvSpPr>
          <p:cNvPr id="2" name="">
            <a:extLst xmlns:a="http://schemas.openxmlformats.org/drawingml/2006/main">
              <a:ext uri="{FF2B5EF4-FFF2-40B4-BE49-F238E27FC236}">
                <a16:creationId xmlns:a16="http://schemas.microsoft.com/office/drawing/2014/main" id="{4A8C2866-0AE5-4FAF-B50E-4625A6E06D83}"/>
              </a:ext>
            </a:extLst>
          </p:cNvPr>
          <p:cNvSpPr>
            <a:spLocks xmlns:a="http://schemas.openxmlformats.org/drawingml/2006/main" noGrp="1"/>
          </p:cNvSpPr>
          <p:nvPr/>
        </p:nvSpPr>
        <p:spPr>
          <a:xfrm xmlns:a="http://schemas.openxmlformats.org/drawingml/2006/main">
            <a:off x="10668000" y="6191250"/>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87064"/>
                </a:solidFill>
                <a:latin typeface="Arial"/>
                <a:ea typeface="Arial"/>
                <a:cs typeface="Arial"/>
              </a:defRPr>
            </a:defPPr>
          </a:lstStyle>
          <a:p xmlns:a="http://schemas.openxmlformats.org/drawingml/2006/main">
            <a:pPr>
              <a:defRPr sz="1350" b="0">
                <a:solidFill>
                  <a:srgbClr val="587064"/>
                </a:solidFill>
                <a:latin typeface="Arial"/>
                <a:ea typeface="Arial"/>
                <a:cs typeface="Arial"/>
              </a:defRPr>
            </a:pPr>
            <a:r>
              <a:rPr sz="1350" b="0">
                <a:solidFill>
                  <a:srgbClr val="587064"/>
                </a:solidFill>
                <a:latin typeface="Arial"/>
                <a:ea typeface="Arial"/>
                <a:cs typeface="Arial"/>
              </a:rPr>
              <a:t>3 / 4</a:t>
            </a:r>
          </a:p>
        </p:txBody>
      </p:sp>
      <p:sp>
        <p:nvSpPr>
          <p:cNvPr id="3" name="">
            <a:extLst xmlns:a="http://schemas.openxmlformats.org/drawingml/2006/main">
              <a:ext uri="{FF2B5EF4-FFF2-40B4-BE49-F238E27FC236}">
                <a16:creationId xmlns:a16="http://schemas.microsoft.com/office/drawing/2014/main" id="{2E8FE074-71CA-4856-B325-CE82A7D1C8CC}"/>
              </a:ext>
            </a:extLst>
          </p:cNvPr>
          <p:cNvSpPr>
            <a:spLocks xmlns:a="http://schemas.openxmlformats.org/drawingml/2006/main" noGrp="1"/>
          </p:cNvSpPr>
          <p:nvPr/>
        </p:nvSpPr>
        <p:spPr>
          <a:xfrm xmlns:a="http://schemas.openxmlformats.org/drawingml/2006/main">
            <a:off x="762000" y="16097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45A46"/>
                </a:solidFill>
                <a:latin typeface="Arial"/>
                <a:ea typeface="Arial"/>
                <a:cs typeface="Arial"/>
              </a:defRPr>
            </a:defPPr>
          </a:lstStyle>
          <a:p xmlns:a="http://schemas.openxmlformats.org/drawingml/2006/main">
            <a:pPr>
              <a:defRPr sz="2400" b="1">
                <a:solidFill>
                  <a:srgbClr val="245A46"/>
                </a:solidFill>
                <a:latin typeface="Arial"/>
                <a:ea typeface="Arial"/>
                <a:cs typeface="Arial"/>
              </a:defRPr>
            </a:pPr>
            <a:r>
              <a:rPr sz="2400" b="1">
                <a:solidFill>
                  <a:srgbClr val="245A46"/>
                </a:solidFill>
                <a:latin typeface="Arial"/>
                <a:ea typeface="Arial"/>
                <a:cs typeface="Arial"/>
              </a:rPr>
              <a:t>Component structure</a:t>
            </a:r>
          </a:p>
        </p:txBody>
      </p:sp>
      <p:sp>
        <p:nvSpPr>
          <p:cNvPr id="4" name="">
            <a:extLst xmlns:a="http://schemas.openxmlformats.org/drawingml/2006/main">
              <a:ext uri="{FF2B5EF4-FFF2-40B4-BE49-F238E27FC236}">
                <a16:creationId xmlns:a16="http://schemas.microsoft.com/office/drawing/2014/main" id="{6E075E88-32C8-4ABC-9CAE-F5E15425E853}"/>
              </a:ext>
            </a:extLst>
          </p:cNvPr>
          <p:cNvSpPr>
            <a:spLocks xmlns:a="http://schemas.openxmlformats.org/drawingml/2006/main" noGrp="1"/>
          </p:cNvSpPr>
          <p:nvPr/>
        </p:nvSpPr>
        <p:spPr>
          <a:xfrm xmlns:a="http://schemas.openxmlformats.org/drawingml/2006/main">
            <a:off x="762000" y="218122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B32"/>
                </a:solidFill>
                <a:latin typeface="Arial"/>
                <a:ea typeface="Arial"/>
                <a:cs typeface="Arial"/>
              </a:defRPr>
            </a:defPPr>
          </a:lstStyle>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Each section has its own component.</a:t>
            </a:r>
          </a:p>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App.jsx combines them into one page.</a:t>
            </a:r>
          </a:p>
        </p:txBody>
      </p:sp>
      <p:sp>
        <p:nvSpPr>
          <p:cNvPr id="5" name="">
            <a:extLst xmlns:a="http://schemas.openxmlformats.org/drawingml/2006/main">
              <a:ext uri="{FF2B5EF4-FFF2-40B4-BE49-F238E27FC236}">
                <a16:creationId xmlns:a16="http://schemas.microsoft.com/office/drawing/2014/main" id="{20A98F65-5B03-4408-872F-CB86EFC7469D}"/>
              </a:ext>
            </a:extLst>
          </p:cNvPr>
          <p:cNvSpPr>
            <a:spLocks xmlns:a="http://schemas.openxmlformats.org/drawingml/2006/main" noGrp="1"/>
          </p:cNvSpPr>
          <p:nvPr/>
        </p:nvSpPr>
        <p:spPr>
          <a:xfrm xmlns:a="http://schemas.openxmlformats.org/drawingml/2006/main">
            <a:off x="6572250" y="16097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45A46"/>
                </a:solidFill>
                <a:latin typeface="Arial"/>
                <a:ea typeface="Arial"/>
                <a:cs typeface="Arial"/>
              </a:defRPr>
            </a:defPPr>
          </a:lstStyle>
          <a:p xmlns:a="http://schemas.openxmlformats.org/drawingml/2006/main">
            <a:pPr>
              <a:defRPr sz="2400" b="1">
                <a:solidFill>
                  <a:srgbClr val="245A46"/>
                </a:solidFill>
                <a:latin typeface="Arial"/>
                <a:ea typeface="Arial"/>
                <a:cs typeface="Arial"/>
              </a:defRPr>
            </a:pPr>
            <a:r>
              <a:rPr sz="2400" b="1">
                <a:solidFill>
                  <a:srgbClr val="245A46"/>
                </a:solidFill>
                <a:latin typeface="Arial"/>
                <a:ea typeface="Arial"/>
                <a:cs typeface="Arial"/>
              </a:rPr>
              <a:t>JavaScript behaviour</a:t>
            </a:r>
          </a:p>
        </p:txBody>
      </p:sp>
      <p:sp>
        <p:nvSpPr>
          <p:cNvPr id="6" name="">
            <a:extLst xmlns:a="http://schemas.openxmlformats.org/drawingml/2006/main">
              <a:ext uri="{FF2B5EF4-FFF2-40B4-BE49-F238E27FC236}">
                <a16:creationId xmlns:a16="http://schemas.microsoft.com/office/drawing/2014/main" id="{4F1D4C6C-2D59-4A3D-B58E-510286BC343B}"/>
              </a:ext>
            </a:extLst>
          </p:cNvPr>
          <p:cNvSpPr>
            <a:spLocks xmlns:a="http://schemas.openxmlformats.org/drawingml/2006/main" noGrp="1"/>
          </p:cNvSpPr>
          <p:nvPr/>
        </p:nvSpPr>
        <p:spPr>
          <a:xfrm xmlns:a="http://schemas.openxmlformats.org/drawingml/2006/main">
            <a:off x="6572250" y="2181225"/>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B32"/>
                </a:solidFill>
                <a:latin typeface="Arial"/>
                <a:ea typeface="Arial"/>
                <a:cs typeface="Arial"/>
              </a:defRPr>
            </a:defPPr>
          </a:lstStyle>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map() generates project cards.</a:t>
            </a:r>
          </a:p>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Conditional rendering shows available links.</a:t>
            </a:r>
          </a:p>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The footer displays the current year.</a:t>
            </a:r>
          </a:p>
        </p:txBody>
      </p:sp>
      <p:sp>
        <p:nvSpPr>
          <p:cNvPr id="7" name="">
            <a:extLst xmlns:a="http://schemas.openxmlformats.org/drawingml/2006/main">
              <a:ext uri="{FF2B5EF4-FFF2-40B4-BE49-F238E27FC236}">
                <a16:creationId xmlns:a16="http://schemas.microsoft.com/office/drawing/2014/main" id="{CB84D9AA-A766-499D-8F6B-A279B8C68D71}"/>
              </a:ext>
            </a:extLst>
          </p:cNvPr>
          <p:cNvSpPr>
            <a:spLocks xmlns:a="http://schemas.openxmlformats.org/drawingml/2006/main" noGrp="1"/>
          </p:cNvSpPr>
          <p:nvPr/>
        </p:nvSpPr>
        <p:spPr>
          <a:xfrm xmlns:a="http://schemas.openxmlformats.org/drawingml/2006/main">
            <a:off x="762000" y="39719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43B32"/>
                </a:solidFill>
                <a:latin typeface="Arial"/>
                <a:ea typeface="Arial"/>
                <a:cs typeface="Arial"/>
              </a:defRPr>
            </a:defPPr>
          </a:lstStyle>
          <a:p xmlns:a="http://schemas.openxmlformats.org/drawingml/2006/main">
            <a:pPr>
              <a:defRPr sz="2400" b="1">
                <a:solidFill>
                  <a:srgbClr val="243B32"/>
                </a:solidFill>
                <a:latin typeface="Arial"/>
                <a:ea typeface="Arial"/>
                <a:cs typeface="Arial"/>
              </a:defRPr>
            </a:pPr>
            <a:r>
              <a:rPr sz="2400" b="1">
                <a:solidFill>
                  <a:srgbClr val="243B32"/>
                </a:solidFill>
                <a:latin typeface="Arial"/>
                <a:ea typeface="Arial"/>
                <a:cs typeface="Arial"/>
              </a:rPr>
              <a:t>Scalability and extensibility</a:t>
            </a:r>
          </a:p>
        </p:txBody>
      </p:sp>
      <p:sp>
        <p:nvSpPr>
          <p:cNvPr id="8" name="">
            <a:extLst xmlns:a="http://schemas.openxmlformats.org/drawingml/2006/main">
              <a:ext uri="{FF2B5EF4-FFF2-40B4-BE49-F238E27FC236}">
                <a16:creationId xmlns:a16="http://schemas.microsoft.com/office/drawing/2014/main" id="{EB796475-7D47-448B-B440-AC6333AE673C}"/>
              </a:ext>
            </a:extLst>
          </p:cNvPr>
          <p:cNvSpPr>
            <a:spLocks xmlns:a="http://schemas.openxmlformats.org/drawingml/2006/main" noGrp="1"/>
          </p:cNvSpPr>
          <p:nvPr/>
        </p:nvSpPr>
        <p:spPr>
          <a:xfrm xmlns:a="http://schemas.openxmlformats.org/drawingml/2006/main">
            <a:off x="762000" y="4562475"/>
            <a:ext cx="10668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B32"/>
                </a:solidFill>
                <a:latin typeface="Arial"/>
                <a:ea typeface="Arial"/>
                <a:cs typeface="Arial"/>
              </a:defRPr>
            </a:defPPr>
          </a:lstStyle>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Add a project to the array without duplicating its card layout.</a:t>
            </a:r>
          </a:p>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Add a new section as a component in App.jsx.</a:t>
            </a:r>
          </a:p>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Separation of concerns makes individual sections easier to maintain.</a:t>
            </a:r>
          </a:p>
        </p:txBody>
      </p:sp>
    </p:spTree>
    <p:extLst>
      <p:ext uri="{BB962C8B-B14F-4D97-AF65-F5344CB8AC3E}">
        <p14:creationId xmlns:p14="http://schemas.microsoft.com/office/powerpoint/2010/main" val="1009895790"/>
      </p:ext>
    </p:extLst>
  </p:cSld>
</p:sld>
</file>

<file path=ppt/slides/slide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973125-6F8D-4AD4-AB2A-B86858C380E0}"/>
              </a:ext>
            </a:extLst>
          </p:cNvPr>
          <p:cNvSpPr>
            <a:spLocks xmlns:a="http://schemas.openxmlformats.org/drawingml/2006/main" noGrp="1"/>
          </p:cNvSpPr>
          <p:nvPr/>
        </p:nvSpPr>
        <p:spPr>
          <a:xfrm xmlns:a="http://schemas.openxmlformats.org/drawingml/2006/main">
            <a:off x="762000" y="6191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43B32"/>
                </a:solidFill>
                <a:latin typeface="Arial"/>
                <a:ea typeface="Arial"/>
                <a:cs typeface="Arial"/>
              </a:defRPr>
            </a:defPPr>
          </a:lstStyle>
          <a:p xmlns:a="http://schemas.openxmlformats.org/drawingml/2006/main">
            <a:pPr>
              <a:defRPr sz="3600" b="1">
                <a:solidFill>
                  <a:srgbClr val="243B32"/>
                </a:solidFill>
                <a:latin typeface="Arial"/>
                <a:ea typeface="Arial"/>
                <a:cs typeface="Arial"/>
              </a:defRPr>
            </a:pPr>
            <a:r>
              <a:rPr sz="3600" b="1">
                <a:solidFill>
                  <a:srgbClr val="243B32"/>
                </a:solidFill>
                <a:latin typeface="Arial"/>
                <a:ea typeface="Arial"/>
                <a:cs typeface="Arial"/>
              </a:rPr>
              <a:t>Responsive design, testing and live website</a:t>
            </a:r>
          </a:p>
        </p:txBody>
      </p:sp>
      <p:sp>
        <p:nvSpPr>
          <p:cNvPr id="2" name="">
            <a:extLst xmlns:a="http://schemas.openxmlformats.org/drawingml/2006/main">
              <a:ext uri="{FF2B5EF4-FFF2-40B4-BE49-F238E27FC236}">
                <a16:creationId xmlns:a16="http://schemas.microsoft.com/office/drawing/2014/main" id="{CFE3C05C-287E-45EB-82EA-E1A8654F5B73}"/>
              </a:ext>
            </a:extLst>
          </p:cNvPr>
          <p:cNvSpPr>
            <a:spLocks xmlns:a="http://schemas.openxmlformats.org/drawingml/2006/main" noGrp="1"/>
          </p:cNvSpPr>
          <p:nvPr/>
        </p:nvSpPr>
        <p:spPr>
          <a:xfrm xmlns:a="http://schemas.openxmlformats.org/drawingml/2006/main">
            <a:off x="10668000" y="6191250"/>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87064"/>
                </a:solidFill>
                <a:latin typeface="Arial"/>
                <a:ea typeface="Arial"/>
                <a:cs typeface="Arial"/>
              </a:defRPr>
            </a:defPPr>
          </a:lstStyle>
          <a:p xmlns:a="http://schemas.openxmlformats.org/drawingml/2006/main">
            <a:pPr>
              <a:defRPr sz="1350" b="0">
                <a:solidFill>
                  <a:srgbClr val="587064"/>
                </a:solidFill>
                <a:latin typeface="Arial"/>
                <a:ea typeface="Arial"/>
                <a:cs typeface="Arial"/>
              </a:defRPr>
            </a:pPr>
            <a:r>
              <a:rPr sz="1350" b="0">
                <a:solidFill>
                  <a:srgbClr val="587064"/>
                </a:solidFill>
                <a:latin typeface="Arial"/>
                <a:ea typeface="Arial"/>
                <a:cs typeface="Arial"/>
              </a:rPr>
              <a:t>4 / 4</a:t>
            </a:r>
          </a:p>
        </p:txBody>
      </p:sp>
      <p:sp>
        <p:nvSpPr>
          <p:cNvPr id="3" name="">
            <a:extLst xmlns:a="http://schemas.openxmlformats.org/drawingml/2006/main">
              <a:ext uri="{FF2B5EF4-FFF2-40B4-BE49-F238E27FC236}">
                <a16:creationId xmlns:a16="http://schemas.microsoft.com/office/drawing/2014/main" id="{6FB247AE-C6B8-4FA0-BBCB-1431263D1BD5}"/>
              </a:ext>
            </a:extLst>
          </p:cNvPr>
          <p:cNvSpPr>
            <a:spLocks xmlns:a="http://schemas.openxmlformats.org/drawingml/2006/main" noGrp="1"/>
          </p:cNvSpPr>
          <p:nvPr/>
        </p:nvSpPr>
        <p:spPr>
          <a:xfrm xmlns:a="http://schemas.openxmlformats.org/drawingml/2006/main">
            <a:off x="762000" y="16002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45A46"/>
                </a:solidFill>
                <a:latin typeface="Arial"/>
                <a:ea typeface="Arial"/>
                <a:cs typeface="Arial"/>
              </a:defRPr>
            </a:defPPr>
          </a:lstStyle>
          <a:p xmlns:a="http://schemas.openxmlformats.org/drawingml/2006/main">
            <a:pPr>
              <a:defRPr sz="2400" b="1">
                <a:solidFill>
                  <a:srgbClr val="245A46"/>
                </a:solidFill>
                <a:latin typeface="Arial"/>
                <a:ea typeface="Arial"/>
                <a:cs typeface="Arial"/>
              </a:defRPr>
            </a:pPr>
            <a:r>
              <a:rPr sz="2400" b="1">
                <a:solidFill>
                  <a:srgbClr val="245A46"/>
                </a:solidFill>
                <a:latin typeface="Arial"/>
                <a:ea typeface="Arial"/>
                <a:cs typeface="Arial"/>
              </a:rPr>
              <a:t>Responsive design</a:t>
            </a:r>
          </a:p>
        </p:txBody>
      </p:sp>
      <p:sp>
        <p:nvSpPr>
          <p:cNvPr id="4" name="">
            <a:extLst xmlns:a="http://schemas.openxmlformats.org/drawingml/2006/main">
              <a:ext uri="{FF2B5EF4-FFF2-40B4-BE49-F238E27FC236}">
                <a16:creationId xmlns:a16="http://schemas.microsoft.com/office/drawing/2014/main" id="{12C0CF20-25FE-4D87-983E-80226ACBBBDF}"/>
              </a:ext>
            </a:extLst>
          </p:cNvPr>
          <p:cNvSpPr>
            <a:spLocks xmlns:a="http://schemas.openxmlformats.org/drawingml/2006/main" noGrp="1"/>
          </p:cNvSpPr>
          <p:nvPr/>
        </p:nvSpPr>
        <p:spPr>
          <a:xfrm xmlns:a="http://schemas.openxmlformats.org/drawingml/2006/main">
            <a:off x="762000" y="22098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B32"/>
                </a:solidFill>
                <a:latin typeface="Arial"/>
                <a:ea typeface="Arial"/>
                <a:cs typeface="Arial"/>
              </a:defRPr>
            </a:defPPr>
          </a:lstStyle>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Flexbox, Grid, and media queries</a:t>
            </a:r>
          </a:p>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adapt the layout to desktop,</a:t>
            </a:r>
          </a:p>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tablet, and mobile screens.</a:t>
            </a:r>
          </a:p>
        </p:txBody>
      </p:sp>
      <p:sp>
        <p:nvSpPr>
          <p:cNvPr id="5" name="">
            <a:extLst xmlns:a="http://schemas.openxmlformats.org/drawingml/2006/main">
              <a:ext uri="{FF2B5EF4-FFF2-40B4-BE49-F238E27FC236}">
                <a16:creationId xmlns:a16="http://schemas.microsoft.com/office/drawing/2014/main" id="{0CAAEFB1-2711-44E3-B086-6BAF702EECCB}"/>
              </a:ext>
            </a:extLst>
          </p:cNvPr>
          <p:cNvSpPr>
            <a:spLocks xmlns:a="http://schemas.openxmlformats.org/drawingml/2006/main" noGrp="1"/>
          </p:cNvSpPr>
          <p:nvPr/>
        </p:nvSpPr>
        <p:spPr>
          <a:xfrm xmlns:a="http://schemas.openxmlformats.org/drawingml/2006/main">
            <a:off x="6572250" y="16002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45A46"/>
                </a:solidFill>
                <a:latin typeface="Arial"/>
                <a:ea typeface="Arial"/>
                <a:cs typeface="Arial"/>
              </a:defRPr>
            </a:defPPr>
          </a:lstStyle>
          <a:p xmlns:a="http://schemas.openxmlformats.org/drawingml/2006/main">
            <a:pPr>
              <a:defRPr sz="2400" b="1">
                <a:solidFill>
                  <a:srgbClr val="245A46"/>
                </a:solidFill>
                <a:latin typeface="Arial"/>
                <a:ea typeface="Arial"/>
                <a:cs typeface="Arial"/>
              </a:defRPr>
            </a:pPr>
            <a:r>
              <a:rPr sz="2400" b="1">
                <a:solidFill>
                  <a:srgbClr val="245A46"/>
                </a:solidFill>
                <a:latin typeface="Arial"/>
                <a:ea typeface="Arial"/>
                <a:cs typeface="Arial"/>
              </a:rPr>
              <a:t>Checks completed</a:t>
            </a:r>
          </a:p>
        </p:txBody>
      </p:sp>
      <p:sp>
        <p:nvSpPr>
          <p:cNvPr id="6" name="">
            <a:extLst xmlns:a="http://schemas.openxmlformats.org/drawingml/2006/main">
              <a:ext uri="{FF2B5EF4-FFF2-40B4-BE49-F238E27FC236}">
                <a16:creationId xmlns:a16="http://schemas.microsoft.com/office/drawing/2014/main" id="{5648E81A-640A-4B9B-9EF5-D618FEBE1015}"/>
              </a:ext>
            </a:extLst>
          </p:cNvPr>
          <p:cNvSpPr>
            <a:spLocks xmlns:a="http://schemas.openxmlformats.org/drawingml/2006/main" noGrp="1"/>
          </p:cNvSpPr>
          <p:nvPr/>
        </p:nvSpPr>
        <p:spPr>
          <a:xfrm xmlns:a="http://schemas.openxmlformats.org/drawingml/2006/main">
            <a:off x="6572250" y="2209800"/>
            <a:ext cx="5000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B32"/>
                </a:solidFill>
                <a:latin typeface="Arial"/>
                <a:ea typeface="Arial"/>
                <a:cs typeface="Arial"/>
              </a:defRPr>
            </a:defPPr>
          </a:lstStyle>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Layouts at different screen widths</a:t>
            </a:r>
          </a:p>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Navigation, project links, keyboard use</a:t>
            </a:r>
          </a:p>
          <a:p xmlns:a="http://schemas.openxmlformats.org/drawingml/2006/main">
            <a:pPr>
              <a:defRPr sz="2100" b="0">
                <a:solidFill>
                  <a:srgbClr val="243B32"/>
                </a:solidFill>
                <a:latin typeface="Arial"/>
                <a:ea typeface="Arial"/>
                <a:cs typeface="Arial"/>
              </a:defRPr>
            </a:pPr>
            <a:r>
              <a:rPr sz="2100" b="0">
                <a:solidFill>
                  <a:srgbClr val="243B32"/>
                </a:solidFill>
                <a:latin typeface="Arial"/>
                <a:ea typeface="Arial"/>
                <a:cs typeface="Arial"/>
              </a:rPr>
              <a:t>Production build and browser preview</a:t>
            </a:r>
          </a:p>
        </p:txBody>
      </p:sp>
      <p:sp>
        <p:nvSpPr>
          <p:cNvPr id="7" name="">
            <a:extLst xmlns:a="http://schemas.openxmlformats.org/drawingml/2006/main">
              <a:ext uri="{FF2B5EF4-FFF2-40B4-BE49-F238E27FC236}">
                <a16:creationId xmlns:a16="http://schemas.microsoft.com/office/drawing/2014/main" id="{5555DDFC-E95C-41D1-8EA6-44433A1F9FEC}"/>
              </a:ext>
            </a:extLst>
          </p:cNvPr>
          <p:cNvSpPr>
            <a:spLocks xmlns:a="http://schemas.openxmlformats.org/drawingml/2006/main" noGrp="1"/>
          </p:cNvSpPr>
          <p:nvPr/>
        </p:nvSpPr>
        <p:spPr>
          <a:xfrm xmlns:a="http://schemas.openxmlformats.org/drawingml/2006/main">
            <a:off x="762000" y="40005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43B32"/>
                </a:solidFill>
                <a:latin typeface="Arial"/>
                <a:ea typeface="Arial"/>
                <a:cs typeface="Arial"/>
              </a:defRPr>
            </a:defPPr>
          </a:lstStyle>
          <a:p xmlns:a="http://schemas.openxmlformats.org/drawingml/2006/main">
            <a:pPr>
              <a:defRPr sz="2400" b="1">
                <a:solidFill>
                  <a:srgbClr val="243B32"/>
                </a:solidFill>
                <a:latin typeface="Arial"/>
                <a:ea typeface="Arial"/>
                <a:cs typeface="Arial"/>
              </a:defRPr>
            </a:pPr>
            <a:r>
              <a:rPr sz="2400" b="1">
                <a:solidFill>
                  <a:srgbClr val="243B32"/>
                </a:solidFill>
                <a:latin typeface="Arial"/>
                <a:ea typeface="Arial"/>
                <a:cs typeface="Arial"/>
              </a:rPr>
              <a:t>Published with GitHub Pages</a:t>
            </a:r>
          </a:p>
        </p:txBody>
      </p:sp>
      <p:sp>
        <p:nvSpPr>
          <p:cNvPr id="8" name="">
            <a:extLst xmlns:a="http://schemas.openxmlformats.org/drawingml/2006/main">
              <a:ext uri="{FF2B5EF4-FFF2-40B4-BE49-F238E27FC236}">
                <a16:creationId xmlns:a16="http://schemas.microsoft.com/office/drawing/2014/main" id="{B239BA53-1F5D-4F02-8E11-72786232DE9A}"/>
              </a:ext>
            </a:extLst>
          </p:cNvPr>
          <p:cNvSpPr>
            <a:spLocks xmlns:a="http://schemas.openxmlformats.org/drawingml/2006/main" noGrp="1"/>
          </p:cNvSpPr>
          <p:nvPr/>
        </p:nvSpPr>
        <p:spPr>
          <a:xfrm xmlns:a="http://schemas.openxmlformats.org/drawingml/2006/main">
            <a:off x="762000" y="45529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45A46"/>
                </a:solidFill>
                <a:latin typeface="Arial"/>
                <a:ea typeface="Arial"/>
                <a:cs typeface="Arial"/>
              </a:defRPr>
            </a:defPPr>
          </a:lstStyle>
          <a:p xmlns:a="http://schemas.openxmlformats.org/drawingml/2006/main">
            <a:pPr>
              <a:defRPr sz="2250" b="1">
                <a:solidFill>
                  <a:srgbClr val="245A46"/>
                </a:solidFill>
                <a:latin typeface="Arial"/>
                <a:ea typeface="Arial"/>
                <a:cs typeface="Arial"/>
              </a:defRPr>
            </a:pPr>
            <a:r>
              <a:rPr sz="2250" b="1">
                <a:solidFill>
                  <a:srgbClr val="245A46"/>
                </a:solidFill>
                <a:latin typeface="Arial"/>
                <a:ea typeface="Arial"/>
                <a:cs typeface="Arial"/>
              </a:rPr>
              <a:t>ephraimlex.github.io/PersonalPortfolio/</a:t>
            </a:r>
          </a:p>
        </p:txBody>
      </p:sp>
      <p:sp>
        <p:nvSpPr>
          <p:cNvPr id="9" name="">
            <a:extLst xmlns:a="http://schemas.openxmlformats.org/drawingml/2006/main">
              <a:ext uri="{FF2B5EF4-FFF2-40B4-BE49-F238E27FC236}">
                <a16:creationId xmlns:a16="http://schemas.microsoft.com/office/drawing/2014/main" id="{9377C9FB-7653-431C-9D11-81D671A786AB}"/>
              </a:ext>
            </a:extLst>
          </p:cNvPr>
          <p:cNvSpPr>
            <a:spLocks xmlns:a="http://schemas.openxmlformats.org/drawingml/2006/main" noGrp="1"/>
          </p:cNvSpPr>
          <p:nvPr/>
        </p:nvSpPr>
        <p:spPr>
          <a:xfrm xmlns:a="http://schemas.openxmlformats.org/drawingml/2006/main">
            <a:off x="762000" y="52101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32"/>
                </a:solidFill>
                <a:latin typeface="Arial"/>
                <a:ea typeface="Arial"/>
                <a:cs typeface="Arial"/>
              </a:defRPr>
            </a:defPPr>
          </a:lstStyle>
          <a:p xmlns:a="http://schemas.openxmlformats.org/drawingml/2006/main">
            <a:pPr>
              <a:defRPr sz="1950" b="0">
                <a:solidFill>
                  <a:srgbClr val="243B32"/>
                </a:solidFill>
                <a:latin typeface="Arial"/>
                <a:ea typeface="Arial"/>
                <a:cs typeface="Arial"/>
              </a:defRPr>
            </a:pPr>
            <a:r>
              <a:rPr sz="1950" b="0">
                <a:solidFill>
                  <a:srgbClr val="243B32"/>
                </a:solidFill>
                <a:latin typeface="Arial"/>
                <a:ea typeface="Arial"/>
                <a:cs typeface="Arial"/>
              </a:rPr>
              <a:t>Live demo: section navigation, a project card, and the mobile layout</a:t>
            </a:r>
          </a:p>
        </p:txBody>
      </p:sp>
      <p:sp>
        <p:nvSpPr>
          <p:cNvPr id="10" name="">
            <a:extLst xmlns:a="http://schemas.openxmlformats.org/drawingml/2006/main">
              <a:ext uri="{FF2B5EF4-FFF2-40B4-BE49-F238E27FC236}">
                <a16:creationId xmlns:a16="http://schemas.microsoft.com/office/drawing/2014/main" id="{F141CB3B-1D67-49EE-81EF-FAD792B04ACD}"/>
              </a:ext>
            </a:extLst>
          </p:cNvPr>
          <p:cNvSpPr>
            <a:spLocks xmlns:a="http://schemas.openxmlformats.org/drawingml/2006/main" noGrp="1"/>
          </p:cNvSpPr>
          <p:nvPr/>
        </p:nvSpPr>
        <p:spPr>
          <a:xfrm xmlns:a="http://schemas.openxmlformats.org/drawingml/2006/main">
            <a:off x="762000" y="57435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43B32"/>
                </a:solidFill>
                <a:latin typeface="Arial"/>
                <a:ea typeface="Arial"/>
                <a:cs typeface="Arial"/>
              </a:defRPr>
            </a:defPPr>
          </a:lstStyle>
          <a:p xmlns:a="http://schemas.openxmlformats.org/drawingml/2006/main">
            <a:pPr>
              <a:defRPr sz="1950" b="1">
                <a:solidFill>
                  <a:srgbClr val="243B32"/>
                </a:solidFill>
                <a:latin typeface="Arial"/>
                <a:ea typeface="Arial"/>
                <a:cs typeface="Arial"/>
              </a:defRPr>
            </a:pPr>
            <a:r>
              <a:rPr sz="1950" b="1">
                <a:solidFill>
                  <a:srgbClr val="243B32"/>
                </a:solidFill>
                <a:latin typeface="Arial"/>
                <a:ea typeface="Arial"/>
                <a:cs typeface="Arial"/>
              </a:rPr>
              <a:t>Key learning: reusable components and responsive website development</a:t>
            </a:r>
          </a:p>
        </p:txBody>
      </p:sp>
    </p:spTree>
    <p:extLst>
      <p:ext uri="{BB962C8B-B14F-4D97-AF65-F5344CB8AC3E}">
        <p14:creationId xmlns:p14="http://schemas.microsoft.com/office/powerpoint/2010/main" val="19217151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2026-10-12T12:47:41.7940000Z</dcterms:created>
  <dcterms:modified xsi:type="dcterms:W3CDTF">2026-10-12T12:47:41.7940000Z</dcterms:modified>
</coreProperties>
</file>